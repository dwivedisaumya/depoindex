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Inter Bold" charset="1" panose="020B0802030000000004"/>
      <p:regular r:id="rId11"/>
    </p:embeddedFont>
    <p:embeddedFont>
      <p:font typeface="Inter" charset="1" panose="020B0502030000000004"/>
      <p:regular r:id="rId12"/>
    </p:embeddedFont>
    <p:embeddedFont>
      <p:font typeface="Cooper Hewitt Bold" charset="1" panose="0000000000000000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D3162">
                <a:alpha val="100000"/>
              </a:srgbClr>
            </a:gs>
            <a:gs pos="20000">
              <a:srgbClr val="070506">
                <a:alpha val="100000"/>
              </a:srgbClr>
            </a:gs>
            <a:gs pos="40000">
              <a:srgbClr val="070506">
                <a:alpha val="100000"/>
              </a:srgbClr>
            </a:gs>
            <a:gs pos="60000">
              <a:srgbClr val="070506">
                <a:alpha val="100000"/>
              </a:srgbClr>
            </a:gs>
            <a:gs pos="80000">
              <a:srgbClr val="070506">
                <a:alpha val="100000"/>
              </a:srgbClr>
            </a:gs>
            <a:gs pos="100000">
              <a:srgbClr val="1E5C5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7453" y="7605464"/>
            <a:ext cx="8647858" cy="2183298"/>
            <a:chOff x="0" y="0"/>
            <a:chExt cx="2277625" cy="5750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7625" cy="575025"/>
            </a:xfrm>
            <a:custGeom>
              <a:avLst/>
              <a:gdLst/>
              <a:ahLst/>
              <a:cxnLst/>
              <a:rect r="r" b="b" t="t" l="l"/>
              <a:pathLst>
                <a:path h="575025" w="2277625">
                  <a:moveTo>
                    <a:pt x="44762" y="0"/>
                  </a:moveTo>
                  <a:lnTo>
                    <a:pt x="2232863" y="0"/>
                  </a:lnTo>
                  <a:cubicBezTo>
                    <a:pt x="2257584" y="0"/>
                    <a:pt x="2277625" y="20041"/>
                    <a:pt x="2277625" y="44762"/>
                  </a:cubicBezTo>
                  <a:lnTo>
                    <a:pt x="2277625" y="530263"/>
                  </a:lnTo>
                  <a:cubicBezTo>
                    <a:pt x="2277625" y="554984"/>
                    <a:pt x="2257584" y="575025"/>
                    <a:pt x="2232863" y="575025"/>
                  </a:cubicBezTo>
                  <a:lnTo>
                    <a:pt x="44762" y="575025"/>
                  </a:lnTo>
                  <a:cubicBezTo>
                    <a:pt x="32890" y="575025"/>
                    <a:pt x="21505" y="570309"/>
                    <a:pt x="13111" y="561914"/>
                  </a:cubicBezTo>
                  <a:cubicBezTo>
                    <a:pt x="4716" y="553520"/>
                    <a:pt x="0" y="542134"/>
                    <a:pt x="0" y="530263"/>
                  </a:cubicBezTo>
                  <a:lnTo>
                    <a:pt x="0" y="44762"/>
                  </a:lnTo>
                  <a:cubicBezTo>
                    <a:pt x="0" y="20041"/>
                    <a:pt x="20041" y="0"/>
                    <a:pt x="447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7625" cy="613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674242" y="7945532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4054578"/>
                </a:moveTo>
                <a:lnTo>
                  <a:pt x="7315200" y="4054578"/>
                </a:lnTo>
                <a:lnTo>
                  <a:pt x="7315200" y="0"/>
                </a:lnTo>
                <a:lnTo>
                  <a:pt x="0" y="0"/>
                </a:lnTo>
                <a:lnTo>
                  <a:pt x="0" y="40545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7453" y="2859912"/>
            <a:ext cx="8647858" cy="4153976"/>
            <a:chOff x="0" y="0"/>
            <a:chExt cx="2277625" cy="10940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7625" cy="1094051"/>
            </a:xfrm>
            <a:custGeom>
              <a:avLst/>
              <a:gdLst/>
              <a:ahLst/>
              <a:cxnLst/>
              <a:rect r="r" b="b" t="t" l="l"/>
              <a:pathLst>
                <a:path h="1094051" w="2277625">
                  <a:moveTo>
                    <a:pt x="44762" y="0"/>
                  </a:moveTo>
                  <a:lnTo>
                    <a:pt x="2232863" y="0"/>
                  </a:lnTo>
                  <a:cubicBezTo>
                    <a:pt x="2257584" y="0"/>
                    <a:pt x="2277625" y="20041"/>
                    <a:pt x="2277625" y="44762"/>
                  </a:cubicBezTo>
                  <a:lnTo>
                    <a:pt x="2277625" y="1049289"/>
                  </a:lnTo>
                  <a:cubicBezTo>
                    <a:pt x="2277625" y="1061161"/>
                    <a:pt x="2272909" y="1072546"/>
                    <a:pt x="2264515" y="1080941"/>
                  </a:cubicBezTo>
                  <a:cubicBezTo>
                    <a:pt x="2256120" y="1089335"/>
                    <a:pt x="2244735" y="1094051"/>
                    <a:pt x="2232863" y="1094051"/>
                  </a:cubicBezTo>
                  <a:lnTo>
                    <a:pt x="44762" y="1094051"/>
                  </a:lnTo>
                  <a:cubicBezTo>
                    <a:pt x="32890" y="1094051"/>
                    <a:pt x="21505" y="1089335"/>
                    <a:pt x="13111" y="1080941"/>
                  </a:cubicBezTo>
                  <a:cubicBezTo>
                    <a:pt x="4716" y="1072546"/>
                    <a:pt x="0" y="1061161"/>
                    <a:pt x="0" y="1049289"/>
                  </a:cubicBezTo>
                  <a:lnTo>
                    <a:pt x="0" y="44762"/>
                  </a:lnTo>
                  <a:cubicBezTo>
                    <a:pt x="0" y="20041"/>
                    <a:pt x="20041" y="0"/>
                    <a:pt x="447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77625" cy="11321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30235" y="3048664"/>
            <a:ext cx="7922294" cy="371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b="true" sz="30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Problem: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Long deposition transcripts are difficult to navigate manually.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Attorneys need to quickly locate where specific subjects were discussed.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A topic label is useful only when its page/line citation is verifiable.</a:t>
            </a:r>
          </a:p>
          <a:p>
            <a:pPr algn="just">
              <a:lnSpc>
                <a:spcPts val="366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245119" y="4188939"/>
            <a:ext cx="8647858" cy="6098061"/>
            <a:chOff x="0" y="0"/>
            <a:chExt cx="2277625" cy="16060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77625" cy="1606074"/>
            </a:xfrm>
            <a:custGeom>
              <a:avLst/>
              <a:gdLst/>
              <a:ahLst/>
              <a:cxnLst/>
              <a:rect r="r" b="b" t="t" l="l"/>
              <a:pathLst>
                <a:path h="1606074" w="2277625">
                  <a:moveTo>
                    <a:pt x="44762" y="0"/>
                  </a:moveTo>
                  <a:lnTo>
                    <a:pt x="2232863" y="0"/>
                  </a:lnTo>
                  <a:cubicBezTo>
                    <a:pt x="2257584" y="0"/>
                    <a:pt x="2277625" y="20041"/>
                    <a:pt x="2277625" y="44762"/>
                  </a:cubicBezTo>
                  <a:lnTo>
                    <a:pt x="2277625" y="1561312"/>
                  </a:lnTo>
                  <a:cubicBezTo>
                    <a:pt x="2277625" y="1573183"/>
                    <a:pt x="2272909" y="1584569"/>
                    <a:pt x="2264515" y="1592963"/>
                  </a:cubicBezTo>
                  <a:cubicBezTo>
                    <a:pt x="2256120" y="1601358"/>
                    <a:pt x="2244735" y="1606074"/>
                    <a:pt x="2232863" y="1606074"/>
                  </a:cubicBezTo>
                  <a:lnTo>
                    <a:pt x="44762" y="1606074"/>
                  </a:lnTo>
                  <a:cubicBezTo>
                    <a:pt x="20041" y="1606074"/>
                    <a:pt x="0" y="1586033"/>
                    <a:pt x="0" y="1561312"/>
                  </a:cubicBezTo>
                  <a:lnTo>
                    <a:pt x="0" y="44762"/>
                  </a:lnTo>
                  <a:cubicBezTo>
                    <a:pt x="0" y="20041"/>
                    <a:pt x="20041" y="0"/>
                    <a:pt x="4476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77625" cy="1644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true" rot="0">
            <a:off x="11647042" y="7945532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8"/>
                </a:moveTo>
                <a:lnTo>
                  <a:pt x="0" y="4054578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30235" y="250062"/>
            <a:ext cx="10404599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DEPOINDEX: AI-POWERED DEPOSITION TOPIC INDEX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723277"/>
            <a:ext cx="7548825" cy="189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b="true" sz="30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Objective:</a:t>
            </a:r>
          </a:p>
          <a:p>
            <a:pPr algn="just">
              <a:lnSpc>
                <a:spcPts val="3667"/>
              </a:lnSpc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Build a system that converts a deposition transcript into a chronological, verifiable Topic Index.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7901" y="4520591"/>
            <a:ext cx="7922294" cy="4176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b="true" sz="30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Key Requirements: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Id</a:t>
            </a: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entify meaningful topics and topic transitions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Determine topic start/end boundaries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Preserve exact page &amp; line references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Handle continuing topics and brief digressions</a:t>
            </a:r>
          </a:p>
          <a:p>
            <a:pPr algn="just" marL="565657" indent="-282829" lvl="1">
              <a:lnSpc>
                <a:spcPts val="3667"/>
              </a:lnSpc>
              <a:buFont typeface="Arial"/>
              <a:buChar char="•"/>
            </a:pPr>
            <a:r>
              <a:rPr lang="en-US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Provide source evidence for independent verification</a:t>
            </a:r>
          </a:p>
          <a:p>
            <a:pPr algn="just">
              <a:lnSpc>
                <a:spcPts val="366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9607901" y="8786749"/>
            <a:ext cx="7922294" cy="895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7"/>
              </a:lnSpc>
            </a:pPr>
            <a:r>
              <a:rPr lang="en-US" b="true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I</a:t>
            </a:r>
            <a:r>
              <a:rPr lang="en-US" b="true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nput: Persis Yu Deposition</a:t>
            </a:r>
          </a:p>
          <a:p>
            <a:pPr algn="just">
              <a:lnSpc>
                <a:spcPts val="3667"/>
              </a:lnSpc>
            </a:pPr>
            <a:r>
              <a:rPr lang="en-US" b="true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Ou</a:t>
            </a:r>
            <a:r>
              <a:rPr lang="en-US" b="true" sz="261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tput: Topic Index in JSON + Markdown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97487" y="419920"/>
            <a:ext cx="6786462" cy="3320586"/>
            <a:chOff x="0" y="0"/>
            <a:chExt cx="1787381" cy="8745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87381" cy="874558"/>
            </a:xfrm>
            <a:custGeom>
              <a:avLst/>
              <a:gdLst/>
              <a:ahLst/>
              <a:cxnLst/>
              <a:rect r="r" b="b" t="t" l="l"/>
              <a:pathLst>
                <a:path h="874558" w="1787381">
                  <a:moveTo>
                    <a:pt x="57039" y="0"/>
                  </a:moveTo>
                  <a:lnTo>
                    <a:pt x="1730342" y="0"/>
                  </a:lnTo>
                  <a:cubicBezTo>
                    <a:pt x="1761844" y="0"/>
                    <a:pt x="1787381" y="25537"/>
                    <a:pt x="1787381" y="57039"/>
                  </a:cubicBezTo>
                  <a:lnTo>
                    <a:pt x="1787381" y="817518"/>
                  </a:lnTo>
                  <a:cubicBezTo>
                    <a:pt x="1787381" y="849020"/>
                    <a:pt x="1761844" y="874558"/>
                    <a:pt x="1730342" y="874558"/>
                  </a:cubicBezTo>
                  <a:lnTo>
                    <a:pt x="57039" y="874558"/>
                  </a:lnTo>
                  <a:cubicBezTo>
                    <a:pt x="25537" y="874558"/>
                    <a:pt x="0" y="849020"/>
                    <a:pt x="0" y="817518"/>
                  </a:cubicBezTo>
                  <a:lnTo>
                    <a:pt x="0" y="57039"/>
                  </a:lnTo>
                  <a:cubicBezTo>
                    <a:pt x="0" y="25537"/>
                    <a:pt x="25537" y="0"/>
                    <a:pt x="57039" y="0"/>
                  </a:cubicBezTo>
                  <a:close/>
                </a:path>
              </a:pathLst>
            </a:custGeom>
            <a:solidFill>
              <a:srgbClr val="D4E2F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87381" cy="912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226368" y="695237"/>
            <a:ext cx="6328701" cy="2703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00"/>
              </a:lnSpc>
            </a:pPr>
            <a:r>
              <a:rPr lang="en-US" b="true" sz="3071" u="sng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Presented by:</a:t>
            </a:r>
          </a:p>
          <a:p>
            <a:pPr algn="just">
              <a:lnSpc>
                <a:spcPts val="4300"/>
              </a:lnSpc>
            </a:pPr>
            <a:r>
              <a:rPr lang="en-US" b="true" sz="3071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Saumya Dwivedi</a:t>
            </a:r>
          </a:p>
          <a:p>
            <a:pPr algn="just">
              <a:lnSpc>
                <a:spcPts val="4300"/>
              </a:lnSpc>
            </a:pPr>
            <a:r>
              <a:rPr lang="en-US" b="true" sz="3071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Project: DepoIndex (PROBLEM 3)</a:t>
            </a:r>
          </a:p>
          <a:p>
            <a:pPr algn="just">
              <a:lnSpc>
                <a:spcPts val="4300"/>
              </a:lnSpc>
            </a:pPr>
            <a:r>
              <a:rPr lang="en-US" b="true" sz="3071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Source: Persis Yu Deposition</a:t>
            </a:r>
          </a:p>
          <a:p>
            <a:pPr algn="just">
              <a:lnSpc>
                <a:spcPts val="4300"/>
              </a:lnSpc>
            </a:pPr>
            <a:r>
              <a:rPr lang="en-US" b="true" sz="3071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Date: 13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D3162">
                <a:alpha val="100000"/>
              </a:srgbClr>
            </a:gs>
            <a:gs pos="20000">
              <a:srgbClr val="070506">
                <a:alpha val="100000"/>
              </a:srgbClr>
            </a:gs>
            <a:gs pos="40000">
              <a:srgbClr val="070506">
                <a:alpha val="100000"/>
              </a:srgbClr>
            </a:gs>
            <a:gs pos="60000">
              <a:srgbClr val="070506">
                <a:alpha val="100000"/>
              </a:srgbClr>
            </a:gs>
            <a:gs pos="80000">
              <a:srgbClr val="070506">
                <a:alpha val="100000"/>
              </a:srgbClr>
            </a:gs>
            <a:gs pos="100000">
              <a:srgbClr val="1E5C5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7909" y="2520778"/>
            <a:ext cx="9357448" cy="6882485"/>
            <a:chOff x="0" y="0"/>
            <a:chExt cx="2464513" cy="1812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4513" cy="1812671"/>
            </a:xfrm>
            <a:custGeom>
              <a:avLst/>
              <a:gdLst/>
              <a:ahLst/>
              <a:cxnLst/>
              <a:rect r="r" b="b" t="t" l="l"/>
              <a:pathLst>
                <a:path h="1812671" w="2464513">
                  <a:moveTo>
                    <a:pt x="41368" y="0"/>
                  </a:moveTo>
                  <a:lnTo>
                    <a:pt x="2423145" y="0"/>
                  </a:lnTo>
                  <a:cubicBezTo>
                    <a:pt x="2445992" y="0"/>
                    <a:pt x="2464513" y="18521"/>
                    <a:pt x="2464513" y="41368"/>
                  </a:cubicBezTo>
                  <a:lnTo>
                    <a:pt x="2464513" y="1771303"/>
                  </a:lnTo>
                  <a:cubicBezTo>
                    <a:pt x="2464513" y="1782275"/>
                    <a:pt x="2460154" y="1792797"/>
                    <a:pt x="2452397" y="1800555"/>
                  </a:cubicBezTo>
                  <a:cubicBezTo>
                    <a:pt x="2444639" y="1808313"/>
                    <a:pt x="2434117" y="1812671"/>
                    <a:pt x="2423145" y="1812671"/>
                  </a:cubicBezTo>
                  <a:lnTo>
                    <a:pt x="41368" y="1812671"/>
                  </a:lnTo>
                  <a:cubicBezTo>
                    <a:pt x="30396" y="1812671"/>
                    <a:pt x="19874" y="1808313"/>
                    <a:pt x="12116" y="1800555"/>
                  </a:cubicBezTo>
                  <a:cubicBezTo>
                    <a:pt x="4358" y="1792797"/>
                    <a:pt x="0" y="1782275"/>
                    <a:pt x="0" y="1771303"/>
                  </a:cubicBezTo>
                  <a:lnTo>
                    <a:pt x="0" y="41368"/>
                  </a:lnTo>
                  <a:cubicBezTo>
                    <a:pt x="0" y="30396"/>
                    <a:pt x="4358" y="19874"/>
                    <a:pt x="12116" y="12116"/>
                  </a:cubicBezTo>
                  <a:cubicBezTo>
                    <a:pt x="19874" y="4358"/>
                    <a:pt x="30396" y="0"/>
                    <a:pt x="4136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4513" cy="18507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-693161" y="6251690"/>
            <a:ext cx="10848945" cy="6013219"/>
          </a:xfrm>
          <a:custGeom>
            <a:avLst/>
            <a:gdLst/>
            <a:ahLst/>
            <a:cxnLst/>
            <a:rect r="r" b="b" t="t" l="l"/>
            <a:pathLst>
              <a:path h="6013219" w="10848945">
                <a:moveTo>
                  <a:pt x="0" y="6013220"/>
                </a:moveTo>
                <a:lnTo>
                  <a:pt x="10848945" y="6013220"/>
                </a:lnTo>
                <a:lnTo>
                  <a:pt x="10848945" y="0"/>
                </a:lnTo>
                <a:lnTo>
                  <a:pt x="0" y="0"/>
                </a:lnTo>
                <a:lnTo>
                  <a:pt x="0" y="60132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624975" y="8610505"/>
            <a:ext cx="1295591" cy="1295591"/>
          </a:xfrm>
          <a:custGeom>
            <a:avLst/>
            <a:gdLst/>
            <a:ahLst/>
            <a:cxnLst/>
            <a:rect r="r" b="b" t="t" l="l"/>
            <a:pathLst>
              <a:path h="1295591" w="1295591">
                <a:moveTo>
                  <a:pt x="0" y="0"/>
                </a:moveTo>
                <a:lnTo>
                  <a:pt x="1295590" y="0"/>
                </a:lnTo>
                <a:lnTo>
                  <a:pt x="1295590" y="1295590"/>
                </a:lnTo>
                <a:lnTo>
                  <a:pt x="0" y="12955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8132216" y="6251690"/>
            <a:ext cx="10848945" cy="6013219"/>
          </a:xfrm>
          <a:custGeom>
            <a:avLst/>
            <a:gdLst/>
            <a:ahLst/>
            <a:cxnLst/>
            <a:rect r="r" b="b" t="t" l="l"/>
            <a:pathLst>
              <a:path h="6013219" w="10848945">
                <a:moveTo>
                  <a:pt x="10848945" y="6013220"/>
                </a:moveTo>
                <a:lnTo>
                  <a:pt x="0" y="6013220"/>
                </a:lnTo>
                <a:lnTo>
                  <a:pt x="0" y="0"/>
                </a:lnTo>
                <a:lnTo>
                  <a:pt x="10848945" y="0"/>
                </a:lnTo>
                <a:lnTo>
                  <a:pt x="10848945" y="60132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920565" y="1034902"/>
            <a:ext cx="5084151" cy="8979795"/>
          </a:xfrm>
          <a:custGeom>
            <a:avLst/>
            <a:gdLst/>
            <a:ahLst/>
            <a:cxnLst/>
            <a:rect r="r" b="b" t="t" l="l"/>
            <a:pathLst>
              <a:path h="8979795" w="5084151">
                <a:moveTo>
                  <a:pt x="0" y="0"/>
                </a:moveTo>
                <a:lnTo>
                  <a:pt x="5084151" y="0"/>
                </a:lnTo>
                <a:lnTo>
                  <a:pt x="5084151" y="8979795"/>
                </a:lnTo>
                <a:lnTo>
                  <a:pt x="0" y="8979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199" t="0" r="-954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0190" y="103107"/>
            <a:ext cx="6642244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SYSTEM ARCHITECTURE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2839349"/>
            <a:ext cx="8728180" cy="616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Architecture Principle</a:t>
            </a:r>
            <a:r>
              <a:rPr lang="en-US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LLM generates topics, but source references remain tied to the original transcript.</a:t>
            </a:r>
          </a:p>
          <a:p>
            <a:pPr algn="just">
              <a:lnSpc>
                <a:spcPts val="4186"/>
              </a:lnSpc>
            </a:pPr>
          </a:p>
          <a:p>
            <a:pPr algn="just">
              <a:lnSpc>
                <a:spcPts val="5599"/>
              </a:lnSpc>
            </a:pP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 Bold"/>
                <a:ea typeface="Inter Bold"/>
                <a:cs typeface="Inter Bold"/>
                <a:sym typeface="Inter Bold"/>
              </a:rPr>
              <a:t>Core Design Goals: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Evidence-grounded topic labels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Exact source addressability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Chronological ordering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Inter"/>
                <a:ea typeface="Inter"/>
                <a:cs typeface="Inter"/>
                <a:sym typeface="Inter"/>
              </a:rPr>
              <a:t>Attorney-verifiable output</a:t>
            </a:r>
          </a:p>
          <a:p>
            <a:pPr algn="just">
              <a:lnSpc>
                <a:spcPts val="418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518756" y="358796"/>
            <a:ext cx="3439608" cy="51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3"/>
              </a:lnSpc>
              <a:spcBef>
                <a:spcPct val="0"/>
              </a:spcBef>
            </a:pPr>
            <a:r>
              <a:rPr lang="en-US" b="true" sz="2794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DEPOINDEX PIPELINE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D3162">
                <a:alpha val="100000"/>
              </a:srgbClr>
            </a:gs>
            <a:gs pos="20000">
              <a:srgbClr val="070506">
                <a:alpha val="100000"/>
              </a:srgbClr>
            </a:gs>
            <a:gs pos="40000">
              <a:srgbClr val="070506">
                <a:alpha val="100000"/>
              </a:srgbClr>
            </a:gs>
            <a:gs pos="60000">
              <a:srgbClr val="070506">
                <a:alpha val="100000"/>
              </a:srgbClr>
            </a:gs>
            <a:gs pos="80000">
              <a:srgbClr val="070506">
                <a:alpha val="100000"/>
              </a:srgbClr>
            </a:gs>
            <a:gs pos="100000">
              <a:srgbClr val="1E5C5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3713" y="2568633"/>
            <a:ext cx="9135470" cy="5712001"/>
            <a:chOff x="0" y="0"/>
            <a:chExt cx="2406050" cy="150439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6050" cy="1504395"/>
            </a:xfrm>
            <a:custGeom>
              <a:avLst/>
              <a:gdLst/>
              <a:ahLst/>
              <a:cxnLst/>
              <a:rect r="r" b="b" t="t" l="l"/>
              <a:pathLst>
                <a:path h="1504395" w="2406050">
                  <a:moveTo>
                    <a:pt x="42373" y="0"/>
                  </a:moveTo>
                  <a:lnTo>
                    <a:pt x="2363677" y="0"/>
                  </a:lnTo>
                  <a:cubicBezTo>
                    <a:pt x="2387079" y="0"/>
                    <a:pt x="2406050" y="18971"/>
                    <a:pt x="2406050" y="42373"/>
                  </a:cubicBezTo>
                  <a:lnTo>
                    <a:pt x="2406050" y="1462023"/>
                  </a:lnTo>
                  <a:cubicBezTo>
                    <a:pt x="2406050" y="1473261"/>
                    <a:pt x="2401585" y="1484038"/>
                    <a:pt x="2393639" y="1491985"/>
                  </a:cubicBezTo>
                  <a:cubicBezTo>
                    <a:pt x="2385693" y="1499931"/>
                    <a:pt x="2374915" y="1504395"/>
                    <a:pt x="2363677" y="1504395"/>
                  </a:cubicBezTo>
                  <a:lnTo>
                    <a:pt x="42373" y="1504395"/>
                  </a:lnTo>
                  <a:cubicBezTo>
                    <a:pt x="18971" y="1504395"/>
                    <a:pt x="0" y="1485425"/>
                    <a:pt x="0" y="1462023"/>
                  </a:cubicBezTo>
                  <a:lnTo>
                    <a:pt x="0" y="42373"/>
                  </a:lnTo>
                  <a:cubicBezTo>
                    <a:pt x="0" y="18971"/>
                    <a:pt x="18971" y="0"/>
                    <a:pt x="423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6050" cy="1542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826772" y="1368483"/>
            <a:ext cx="7957046" cy="5301186"/>
            <a:chOff x="0" y="0"/>
            <a:chExt cx="2095683" cy="13961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5683" cy="1396197"/>
            </a:xfrm>
            <a:custGeom>
              <a:avLst/>
              <a:gdLst/>
              <a:ahLst/>
              <a:cxnLst/>
              <a:rect r="r" b="b" t="t" l="l"/>
              <a:pathLst>
                <a:path h="1396197" w="2095683">
                  <a:moveTo>
                    <a:pt x="48648" y="0"/>
                  </a:moveTo>
                  <a:lnTo>
                    <a:pt x="2047035" y="0"/>
                  </a:lnTo>
                  <a:cubicBezTo>
                    <a:pt x="2059937" y="0"/>
                    <a:pt x="2072311" y="5125"/>
                    <a:pt x="2081434" y="14249"/>
                  </a:cubicBezTo>
                  <a:cubicBezTo>
                    <a:pt x="2090557" y="23372"/>
                    <a:pt x="2095683" y="35746"/>
                    <a:pt x="2095683" y="48648"/>
                  </a:cubicBezTo>
                  <a:lnTo>
                    <a:pt x="2095683" y="1347549"/>
                  </a:lnTo>
                  <a:cubicBezTo>
                    <a:pt x="2095683" y="1374417"/>
                    <a:pt x="2073902" y="1396197"/>
                    <a:pt x="2047035" y="1396197"/>
                  </a:cubicBezTo>
                  <a:lnTo>
                    <a:pt x="48648" y="1396197"/>
                  </a:lnTo>
                  <a:cubicBezTo>
                    <a:pt x="21781" y="1396197"/>
                    <a:pt x="0" y="1374417"/>
                    <a:pt x="0" y="1347549"/>
                  </a:cubicBezTo>
                  <a:lnTo>
                    <a:pt x="0" y="48648"/>
                  </a:lnTo>
                  <a:cubicBezTo>
                    <a:pt x="0" y="21781"/>
                    <a:pt x="21781" y="0"/>
                    <a:pt x="4864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5683" cy="1434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73713" y="187383"/>
            <a:ext cx="10380873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TOPIC SEGMENTATION &amp; PROVENANCE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8550" y="2753018"/>
            <a:ext cx="8685450" cy="552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Topic</a:t>
            </a: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Segmentation: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The system must distinguish between: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New topic → genuine subject-matter change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Continuation → same subject continues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Digression → short deviation within a larger topic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Re-entry → earlier topic returns later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Related subject → closely connected but independently useful topic</a:t>
            </a:r>
          </a:p>
          <a:p>
            <a:pPr algn="just">
              <a:lnSpc>
                <a:spcPts val="4556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862457" y="6987480"/>
            <a:ext cx="7921361" cy="2985341"/>
            <a:chOff x="0" y="0"/>
            <a:chExt cx="2086284" cy="7862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86284" cy="786263"/>
            </a:xfrm>
            <a:custGeom>
              <a:avLst/>
              <a:gdLst/>
              <a:ahLst/>
              <a:cxnLst/>
              <a:rect r="r" b="b" t="t" l="l"/>
              <a:pathLst>
                <a:path h="786263" w="2086284">
                  <a:moveTo>
                    <a:pt x="48867" y="0"/>
                  </a:moveTo>
                  <a:lnTo>
                    <a:pt x="2037417" y="0"/>
                  </a:lnTo>
                  <a:cubicBezTo>
                    <a:pt x="2050377" y="0"/>
                    <a:pt x="2062807" y="5149"/>
                    <a:pt x="2071971" y="14313"/>
                  </a:cubicBezTo>
                  <a:cubicBezTo>
                    <a:pt x="2081136" y="23477"/>
                    <a:pt x="2086284" y="35907"/>
                    <a:pt x="2086284" y="48867"/>
                  </a:cubicBezTo>
                  <a:lnTo>
                    <a:pt x="2086284" y="737395"/>
                  </a:lnTo>
                  <a:cubicBezTo>
                    <a:pt x="2086284" y="750356"/>
                    <a:pt x="2081136" y="762785"/>
                    <a:pt x="2071971" y="771950"/>
                  </a:cubicBezTo>
                  <a:cubicBezTo>
                    <a:pt x="2062807" y="781114"/>
                    <a:pt x="2050377" y="786263"/>
                    <a:pt x="2037417" y="786263"/>
                  </a:cubicBezTo>
                  <a:lnTo>
                    <a:pt x="48867" y="786263"/>
                  </a:lnTo>
                  <a:cubicBezTo>
                    <a:pt x="35907" y="786263"/>
                    <a:pt x="23477" y="781114"/>
                    <a:pt x="14313" y="771950"/>
                  </a:cubicBezTo>
                  <a:cubicBezTo>
                    <a:pt x="5149" y="762785"/>
                    <a:pt x="0" y="750356"/>
                    <a:pt x="0" y="737395"/>
                  </a:cubicBezTo>
                  <a:lnTo>
                    <a:pt x="0" y="48867"/>
                  </a:lnTo>
                  <a:cubicBezTo>
                    <a:pt x="0" y="35907"/>
                    <a:pt x="5149" y="23477"/>
                    <a:pt x="14313" y="14313"/>
                  </a:cubicBezTo>
                  <a:cubicBezTo>
                    <a:pt x="23477" y="5149"/>
                    <a:pt x="35907" y="0"/>
                    <a:pt x="488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86284" cy="824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true" flipV="true" rot="0">
            <a:off x="11647042" y="7945532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7315200" y="4054578"/>
                </a:moveTo>
                <a:lnTo>
                  <a:pt x="0" y="4054578"/>
                </a:lnTo>
                <a:lnTo>
                  <a:pt x="0" y="0"/>
                </a:lnTo>
                <a:lnTo>
                  <a:pt x="7315200" y="0"/>
                </a:lnTo>
                <a:lnTo>
                  <a:pt x="7315200" y="40545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33540" y="8476808"/>
            <a:ext cx="9135470" cy="1810192"/>
            <a:chOff x="0" y="0"/>
            <a:chExt cx="2406050" cy="47675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06050" cy="476758"/>
            </a:xfrm>
            <a:custGeom>
              <a:avLst/>
              <a:gdLst/>
              <a:ahLst/>
              <a:cxnLst/>
              <a:rect r="r" b="b" t="t" l="l"/>
              <a:pathLst>
                <a:path h="476758" w="2406050">
                  <a:moveTo>
                    <a:pt x="42373" y="0"/>
                  </a:moveTo>
                  <a:lnTo>
                    <a:pt x="2363677" y="0"/>
                  </a:lnTo>
                  <a:cubicBezTo>
                    <a:pt x="2387079" y="0"/>
                    <a:pt x="2406050" y="18971"/>
                    <a:pt x="2406050" y="42373"/>
                  </a:cubicBezTo>
                  <a:lnTo>
                    <a:pt x="2406050" y="434386"/>
                  </a:lnTo>
                  <a:cubicBezTo>
                    <a:pt x="2406050" y="457787"/>
                    <a:pt x="2387079" y="476758"/>
                    <a:pt x="2363677" y="476758"/>
                  </a:cubicBezTo>
                  <a:lnTo>
                    <a:pt x="42373" y="476758"/>
                  </a:lnTo>
                  <a:cubicBezTo>
                    <a:pt x="31135" y="476758"/>
                    <a:pt x="20357" y="472294"/>
                    <a:pt x="12411" y="464348"/>
                  </a:cubicBezTo>
                  <a:cubicBezTo>
                    <a:pt x="4464" y="456401"/>
                    <a:pt x="0" y="445624"/>
                    <a:pt x="0" y="434386"/>
                  </a:cubicBezTo>
                  <a:lnTo>
                    <a:pt x="0" y="42373"/>
                  </a:lnTo>
                  <a:cubicBezTo>
                    <a:pt x="0" y="18971"/>
                    <a:pt x="18971" y="0"/>
                    <a:pt x="4237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06050" cy="514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true" rot="0">
            <a:off x="-674242" y="7945532"/>
            <a:ext cx="7315200" cy="4054579"/>
          </a:xfrm>
          <a:custGeom>
            <a:avLst/>
            <a:gdLst/>
            <a:ahLst/>
            <a:cxnLst/>
            <a:rect r="r" b="b" t="t" l="l"/>
            <a:pathLst>
              <a:path h="4054579" w="7315200">
                <a:moveTo>
                  <a:pt x="0" y="4054578"/>
                </a:moveTo>
                <a:lnTo>
                  <a:pt x="7315200" y="4054578"/>
                </a:lnTo>
                <a:lnTo>
                  <a:pt x="7315200" y="0"/>
                </a:lnTo>
                <a:lnTo>
                  <a:pt x="0" y="0"/>
                </a:lnTo>
                <a:lnTo>
                  <a:pt x="0" y="405457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97466" y="1501301"/>
            <a:ext cx="7415657" cy="495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Boundary</a:t>
            </a:r>
            <a:r>
              <a:rPr lang="en-US" b="true" sz="3999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Strategy: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Candidate boundaries ar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e based on changes in the testimony's subject matter and discourse flow.</a:t>
            </a:r>
          </a:p>
          <a:p>
            <a:pPr algn="ctr">
              <a:lnSpc>
                <a:spcPts val="4200"/>
              </a:lnSpc>
            </a:pPr>
          </a:p>
          <a:p>
            <a:pPr algn="just">
              <a:lnSpc>
                <a:spcPts val="4200"/>
              </a:lnSpc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The generated topic label should be grounded in the evidence inside its own citation range, rather than unrelated surrounding context.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67978" y="6930330"/>
            <a:ext cx="811584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Provenance</a:t>
            </a:r>
            <a:r>
              <a:rPr lang="en-US" b="true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Strategy: 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ch entry stores: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Topic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Start Page + Line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End Page + Line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Supporting Evidence / Source Reference</a:t>
            </a:r>
          </a:p>
          <a:p>
            <a:pPr algn="just">
              <a:lnSpc>
                <a:spcPts val="42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821630" y="8705850"/>
            <a:ext cx="8274634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Verification Principle: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 A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 plausible 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to</a:t>
            </a:r>
            <a:r>
              <a:rPr lang="en-US" sz="3000">
                <a:gradFill>
                  <a:gsLst>
                    <a:gs pos="0">
                      <a:srgbClr val="4D3162">
                        <a:alpha val="100000"/>
                      </a:srgbClr>
                    </a:gs>
                    <a:gs pos="20000">
                      <a:srgbClr val="070506">
                        <a:alpha val="100000"/>
                      </a:srgbClr>
                    </a:gs>
                    <a:gs pos="40000">
                      <a:srgbClr val="070506">
                        <a:alpha val="100000"/>
                      </a:srgbClr>
                    </a:gs>
                    <a:gs pos="60000">
                      <a:srgbClr val="070506">
                        <a:alpha val="100000"/>
                      </a:srgbClr>
                    </a:gs>
                    <a:gs pos="80000">
                      <a:srgbClr val="070506">
                        <a:alpha val="100000"/>
                      </a:srgbClr>
                    </a:gs>
                    <a:gs pos="100000">
                      <a:srgbClr val="1E5C53">
                        <a:alpha val="100000"/>
                      </a:srgbClr>
                    </a:gs>
                  </a:gsLst>
                  <a:lin ang="2700000"/>
                </a:gradFill>
                <a:latin typeface="Canva Sans"/>
                <a:ea typeface="Canva Sans"/>
                <a:cs typeface="Canva Sans"/>
                <a:sym typeface="Canva Sans"/>
              </a:rPr>
              <a:t>pic with the wrong page/line is treated as a failure.</a:t>
            </a:r>
          </a:p>
          <a:p>
            <a:pPr algn="just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D3162">
                <a:alpha val="100000"/>
              </a:srgbClr>
            </a:gs>
            <a:gs pos="20000">
              <a:srgbClr val="070506">
                <a:alpha val="100000"/>
              </a:srgbClr>
            </a:gs>
            <a:gs pos="40000">
              <a:srgbClr val="070506">
                <a:alpha val="100000"/>
              </a:srgbClr>
            </a:gs>
            <a:gs pos="60000">
              <a:srgbClr val="070506">
                <a:alpha val="100000"/>
              </a:srgbClr>
            </a:gs>
            <a:gs pos="80000">
              <a:srgbClr val="070506">
                <a:alpha val="100000"/>
              </a:srgbClr>
            </a:gs>
            <a:gs pos="100000">
              <a:srgbClr val="1E5C5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693161" y="6251690"/>
            <a:ext cx="10848945" cy="6013219"/>
          </a:xfrm>
          <a:custGeom>
            <a:avLst/>
            <a:gdLst/>
            <a:ahLst/>
            <a:cxnLst/>
            <a:rect r="r" b="b" t="t" l="l"/>
            <a:pathLst>
              <a:path h="6013219" w="10848945">
                <a:moveTo>
                  <a:pt x="0" y="6013220"/>
                </a:moveTo>
                <a:lnTo>
                  <a:pt x="10848945" y="6013220"/>
                </a:lnTo>
                <a:lnTo>
                  <a:pt x="10848945" y="0"/>
                </a:lnTo>
                <a:lnTo>
                  <a:pt x="0" y="0"/>
                </a:lnTo>
                <a:lnTo>
                  <a:pt x="0" y="60132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8132216" y="6251690"/>
            <a:ext cx="10848945" cy="6013219"/>
          </a:xfrm>
          <a:custGeom>
            <a:avLst/>
            <a:gdLst/>
            <a:ahLst/>
            <a:cxnLst/>
            <a:rect r="r" b="b" t="t" l="l"/>
            <a:pathLst>
              <a:path h="6013219" w="10848945">
                <a:moveTo>
                  <a:pt x="10848945" y="6013220"/>
                </a:moveTo>
                <a:lnTo>
                  <a:pt x="0" y="6013220"/>
                </a:lnTo>
                <a:lnTo>
                  <a:pt x="0" y="0"/>
                </a:lnTo>
                <a:lnTo>
                  <a:pt x="10848945" y="0"/>
                </a:lnTo>
                <a:lnTo>
                  <a:pt x="10848945" y="60132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58995" y="2780058"/>
            <a:ext cx="8237043" cy="3185937"/>
            <a:chOff x="0" y="0"/>
            <a:chExt cx="2169427" cy="8390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9427" cy="839095"/>
            </a:xfrm>
            <a:custGeom>
              <a:avLst/>
              <a:gdLst/>
              <a:ahLst/>
              <a:cxnLst/>
              <a:rect r="r" b="b" t="t" l="l"/>
              <a:pathLst>
                <a:path h="839095" w="2169427">
                  <a:moveTo>
                    <a:pt x="46995" y="0"/>
                  </a:moveTo>
                  <a:lnTo>
                    <a:pt x="2122432" y="0"/>
                  </a:lnTo>
                  <a:cubicBezTo>
                    <a:pt x="2148387" y="0"/>
                    <a:pt x="2169427" y="21040"/>
                    <a:pt x="2169427" y="46995"/>
                  </a:cubicBezTo>
                  <a:lnTo>
                    <a:pt x="2169427" y="792100"/>
                  </a:lnTo>
                  <a:cubicBezTo>
                    <a:pt x="2169427" y="804564"/>
                    <a:pt x="2164476" y="816517"/>
                    <a:pt x="2155662" y="825330"/>
                  </a:cubicBezTo>
                  <a:cubicBezTo>
                    <a:pt x="2146849" y="834143"/>
                    <a:pt x="2134896" y="839095"/>
                    <a:pt x="2122432" y="839095"/>
                  </a:cubicBezTo>
                  <a:lnTo>
                    <a:pt x="46995" y="839095"/>
                  </a:lnTo>
                  <a:cubicBezTo>
                    <a:pt x="34531" y="839095"/>
                    <a:pt x="22578" y="834143"/>
                    <a:pt x="13764" y="825330"/>
                  </a:cubicBezTo>
                  <a:cubicBezTo>
                    <a:pt x="4951" y="816517"/>
                    <a:pt x="0" y="804564"/>
                    <a:pt x="0" y="792100"/>
                  </a:cubicBezTo>
                  <a:lnTo>
                    <a:pt x="0" y="46995"/>
                  </a:lnTo>
                  <a:cubicBezTo>
                    <a:pt x="0" y="34531"/>
                    <a:pt x="4951" y="22578"/>
                    <a:pt x="13764" y="13764"/>
                  </a:cubicBezTo>
                  <a:cubicBezTo>
                    <a:pt x="22578" y="4951"/>
                    <a:pt x="34531" y="0"/>
                    <a:pt x="469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69427" cy="877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094885" y="2780058"/>
            <a:ext cx="8923606" cy="5788788"/>
            <a:chOff x="0" y="0"/>
            <a:chExt cx="2350250" cy="15246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50250" cy="1524619"/>
            </a:xfrm>
            <a:custGeom>
              <a:avLst/>
              <a:gdLst/>
              <a:ahLst/>
              <a:cxnLst/>
              <a:rect r="r" b="b" t="t" l="l"/>
              <a:pathLst>
                <a:path h="1524619" w="2350250">
                  <a:moveTo>
                    <a:pt x="43379" y="0"/>
                  </a:moveTo>
                  <a:lnTo>
                    <a:pt x="2306871" y="0"/>
                  </a:lnTo>
                  <a:cubicBezTo>
                    <a:pt x="2318376" y="0"/>
                    <a:pt x="2329410" y="4570"/>
                    <a:pt x="2337545" y="12705"/>
                  </a:cubicBezTo>
                  <a:cubicBezTo>
                    <a:pt x="2345680" y="20840"/>
                    <a:pt x="2350250" y="31874"/>
                    <a:pt x="2350250" y="43379"/>
                  </a:cubicBezTo>
                  <a:lnTo>
                    <a:pt x="2350250" y="1481240"/>
                  </a:lnTo>
                  <a:cubicBezTo>
                    <a:pt x="2350250" y="1492745"/>
                    <a:pt x="2345680" y="1503779"/>
                    <a:pt x="2337545" y="1511914"/>
                  </a:cubicBezTo>
                  <a:cubicBezTo>
                    <a:pt x="2329410" y="1520049"/>
                    <a:pt x="2318376" y="1524619"/>
                    <a:pt x="2306871" y="1524619"/>
                  </a:cubicBezTo>
                  <a:lnTo>
                    <a:pt x="43379" y="1524619"/>
                  </a:lnTo>
                  <a:cubicBezTo>
                    <a:pt x="31874" y="1524619"/>
                    <a:pt x="20840" y="1520049"/>
                    <a:pt x="12705" y="1511914"/>
                  </a:cubicBezTo>
                  <a:cubicBezTo>
                    <a:pt x="4570" y="1503779"/>
                    <a:pt x="0" y="1492745"/>
                    <a:pt x="0" y="1481240"/>
                  </a:cubicBezTo>
                  <a:lnTo>
                    <a:pt x="0" y="43379"/>
                  </a:lnTo>
                  <a:cubicBezTo>
                    <a:pt x="0" y="31874"/>
                    <a:pt x="4570" y="20840"/>
                    <a:pt x="12705" y="12705"/>
                  </a:cubicBezTo>
                  <a:cubicBezTo>
                    <a:pt x="20840" y="4570"/>
                    <a:pt x="31874" y="0"/>
                    <a:pt x="433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350250" cy="1562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31018" y="1214815"/>
            <a:ext cx="14625964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6500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EXAMPLE &amp; VALIDATION RESULTS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859481" y="1384098"/>
            <a:ext cx="1045616" cy="1045616"/>
          </a:xfrm>
          <a:custGeom>
            <a:avLst/>
            <a:gdLst/>
            <a:ahLst/>
            <a:cxnLst/>
            <a:rect r="r" b="b" t="t" l="l"/>
            <a:pathLst>
              <a:path h="1045616" w="1045616">
                <a:moveTo>
                  <a:pt x="0" y="0"/>
                </a:moveTo>
                <a:lnTo>
                  <a:pt x="1045615" y="0"/>
                </a:lnTo>
                <a:lnTo>
                  <a:pt x="1045615" y="1045616"/>
                </a:lnTo>
                <a:lnTo>
                  <a:pt x="0" y="1045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70863" y="1309405"/>
            <a:ext cx="1045616" cy="1045616"/>
          </a:xfrm>
          <a:custGeom>
            <a:avLst/>
            <a:gdLst/>
            <a:ahLst/>
            <a:cxnLst/>
            <a:rect r="r" b="b" t="t" l="l"/>
            <a:pathLst>
              <a:path h="1045616" w="1045616">
                <a:moveTo>
                  <a:pt x="0" y="0"/>
                </a:moveTo>
                <a:lnTo>
                  <a:pt x="1045616" y="0"/>
                </a:lnTo>
                <a:lnTo>
                  <a:pt x="1045616" y="1045615"/>
                </a:lnTo>
                <a:lnTo>
                  <a:pt x="0" y="10456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2764" y="3521864"/>
            <a:ext cx="7529452" cy="1091701"/>
          </a:xfrm>
          <a:custGeom>
            <a:avLst/>
            <a:gdLst/>
            <a:ahLst/>
            <a:cxnLst/>
            <a:rect r="r" b="b" t="t" l="l"/>
            <a:pathLst>
              <a:path h="1091701" w="7529452">
                <a:moveTo>
                  <a:pt x="0" y="0"/>
                </a:moveTo>
                <a:lnTo>
                  <a:pt x="7529452" y="0"/>
                </a:lnTo>
                <a:lnTo>
                  <a:pt x="7529452" y="1091702"/>
                </a:lnTo>
                <a:lnTo>
                  <a:pt x="0" y="10917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995" t="-131434" r="-3688" b="-139913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8995" y="6346995"/>
            <a:ext cx="8237043" cy="3710020"/>
            <a:chOff x="0" y="0"/>
            <a:chExt cx="2169427" cy="977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69427" cy="977124"/>
            </a:xfrm>
            <a:custGeom>
              <a:avLst/>
              <a:gdLst/>
              <a:ahLst/>
              <a:cxnLst/>
              <a:rect r="r" b="b" t="t" l="l"/>
              <a:pathLst>
                <a:path h="977124" w="2169427">
                  <a:moveTo>
                    <a:pt x="46995" y="0"/>
                  </a:moveTo>
                  <a:lnTo>
                    <a:pt x="2122432" y="0"/>
                  </a:lnTo>
                  <a:cubicBezTo>
                    <a:pt x="2148387" y="0"/>
                    <a:pt x="2169427" y="21040"/>
                    <a:pt x="2169427" y="46995"/>
                  </a:cubicBezTo>
                  <a:lnTo>
                    <a:pt x="2169427" y="930130"/>
                  </a:lnTo>
                  <a:cubicBezTo>
                    <a:pt x="2169427" y="942594"/>
                    <a:pt x="2164476" y="954547"/>
                    <a:pt x="2155662" y="963360"/>
                  </a:cubicBezTo>
                  <a:cubicBezTo>
                    <a:pt x="2146849" y="972173"/>
                    <a:pt x="2134896" y="977124"/>
                    <a:pt x="2122432" y="977124"/>
                  </a:cubicBezTo>
                  <a:lnTo>
                    <a:pt x="46995" y="977124"/>
                  </a:lnTo>
                  <a:cubicBezTo>
                    <a:pt x="34531" y="977124"/>
                    <a:pt x="22578" y="972173"/>
                    <a:pt x="13764" y="963360"/>
                  </a:cubicBezTo>
                  <a:cubicBezTo>
                    <a:pt x="4951" y="954547"/>
                    <a:pt x="0" y="942594"/>
                    <a:pt x="0" y="930130"/>
                  </a:cubicBezTo>
                  <a:lnTo>
                    <a:pt x="0" y="46995"/>
                  </a:lnTo>
                  <a:cubicBezTo>
                    <a:pt x="0" y="34531"/>
                    <a:pt x="4951" y="22578"/>
                    <a:pt x="13764" y="13764"/>
                  </a:cubicBezTo>
                  <a:cubicBezTo>
                    <a:pt x="22578" y="4951"/>
                    <a:pt x="34531" y="0"/>
                    <a:pt x="469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69427" cy="1015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174801" y="3925468"/>
            <a:ext cx="8763775" cy="3920210"/>
          </a:xfrm>
          <a:custGeom>
            <a:avLst/>
            <a:gdLst/>
            <a:ahLst/>
            <a:cxnLst/>
            <a:rect r="r" b="b" t="t" l="l"/>
            <a:pathLst>
              <a:path h="3920210" w="8763775">
                <a:moveTo>
                  <a:pt x="0" y="0"/>
                </a:moveTo>
                <a:lnTo>
                  <a:pt x="8763775" y="0"/>
                </a:lnTo>
                <a:lnTo>
                  <a:pt x="8763775" y="3920210"/>
                </a:lnTo>
                <a:lnTo>
                  <a:pt x="0" y="39202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279132" y="2969395"/>
            <a:ext cx="5418519" cy="43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Example Topic Index Entry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40781" y="3057161"/>
            <a:ext cx="5418519" cy="438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Manual Validation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361" y="4680241"/>
            <a:ext cx="6688312" cy="895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71"/>
              </a:lnSpc>
            </a:pPr>
            <a:r>
              <a:rPr lang="en-US" sz="2622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Supporting evidence:</a:t>
            </a:r>
            <a:r>
              <a:rPr lang="en-US" sz="2622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 Original deposition testimony at the cited location.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0880" y="6289845"/>
            <a:ext cx="7893274" cy="3719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b="true" sz="3000" u="sng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Overall Assessment:</a:t>
            </a:r>
          </a:p>
          <a:p>
            <a:pPr algn="just">
              <a:lnSpc>
                <a:spcPts val="3671"/>
              </a:lnSpc>
            </a:pPr>
            <a:r>
              <a:rPr lang="en-US" sz="2622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PROTOTYPE-STAGE:</a:t>
            </a:r>
          </a:p>
          <a:p>
            <a:pPr algn="just">
              <a:lnSpc>
                <a:spcPts val="3671"/>
              </a:lnSpc>
            </a:pPr>
            <a:r>
              <a:rPr lang="en-US" sz="2622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Strong source-location accuracy, but topic segmentation and evidence-grounded labeling require further refinement.</a:t>
            </a:r>
          </a:p>
          <a:p>
            <a:pPr algn="just">
              <a:lnSpc>
                <a:spcPts val="3671"/>
              </a:lnSpc>
            </a:pPr>
            <a:r>
              <a:rPr lang="en-US" sz="2622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Main finding: </a:t>
            </a:r>
            <a:r>
              <a:rPr lang="en-US" sz="2622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20/20 sampled page/line locations were correctly mapped to the actual Persis Yu PDF.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4D3162">
                <a:alpha val="100000"/>
              </a:srgbClr>
            </a:gs>
            <a:gs pos="20000">
              <a:srgbClr val="070506">
                <a:alpha val="100000"/>
              </a:srgbClr>
            </a:gs>
            <a:gs pos="40000">
              <a:srgbClr val="070506">
                <a:alpha val="100000"/>
              </a:srgbClr>
            </a:gs>
            <a:gs pos="60000">
              <a:srgbClr val="070506">
                <a:alpha val="100000"/>
              </a:srgbClr>
            </a:gs>
            <a:gs pos="80000">
              <a:srgbClr val="070506">
                <a:alpha val="100000"/>
              </a:srgbClr>
            </a:gs>
            <a:gs pos="100000">
              <a:srgbClr val="1E5C53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3336" y="240651"/>
            <a:ext cx="8285769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 b="true">
                <a:solidFill>
                  <a:srgbClr val="FFFFFF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STABILITY, FAILURES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709105" y="431151"/>
            <a:ext cx="9089088" cy="6372908"/>
            <a:chOff x="0" y="0"/>
            <a:chExt cx="2172535" cy="15232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72535" cy="1523295"/>
            </a:xfrm>
            <a:custGeom>
              <a:avLst/>
              <a:gdLst/>
              <a:ahLst/>
              <a:cxnLst/>
              <a:rect r="r" b="b" t="t" l="l"/>
              <a:pathLst>
                <a:path h="1523295" w="2172535">
                  <a:moveTo>
                    <a:pt x="42589" y="0"/>
                  </a:moveTo>
                  <a:lnTo>
                    <a:pt x="2129946" y="0"/>
                  </a:lnTo>
                  <a:cubicBezTo>
                    <a:pt x="2141241" y="0"/>
                    <a:pt x="2152074" y="4487"/>
                    <a:pt x="2160061" y="12474"/>
                  </a:cubicBezTo>
                  <a:cubicBezTo>
                    <a:pt x="2168048" y="20461"/>
                    <a:pt x="2172535" y="31294"/>
                    <a:pt x="2172535" y="42589"/>
                  </a:cubicBezTo>
                  <a:lnTo>
                    <a:pt x="2172535" y="1480706"/>
                  </a:lnTo>
                  <a:cubicBezTo>
                    <a:pt x="2172535" y="1492001"/>
                    <a:pt x="2168048" y="1502834"/>
                    <a:pt x="2160061" y="1510821"/>
                  </a:cubicBezTo>
                  <a:cubicBezTo>
                    <a:pt x="2152074" y="1518808"/>
                    <a:pt x="2141241" y="1523295"/>
                    <a:pt x="2129946" y="1523295"/>
                  </a:cubicBezTo>
                  <a:lnTo>
                    <a:pt x="42589" y="1523295"/>
                  </a:lnTo>
                  <a:cubicBezTo>
                    <a:pt x="31294" y="1523295"/>
                    <a:pt x="20461" y="1518808"/>
                    <a:pt x="12474" y="1510821"/>
                  </a:cubicBezTo>
                  <a:cubicBezTo>
                    <a:pt x="4487" y="1502834"/>
                    <a:pt x="0" y="1492001"/>
                    <a:pt x="0" y="1480706"/>
                  </a:cubicBezTo>
                  <a:lnTo>
                    <a:pt x="0" y="42589"/>
                  </a:lnTo>
                  <a:cubicBezTo>
                    <a:pt x="0" y="31294"/>
                    <a:pt x="4487" y="20461"/>
                    <a:pt x="12474" y="12474"/>
                  </a:cubicBezTo>
                  <a:cubicBezTo>
                    <a:pt x="20461" y="4487"/>
                    <a:pt x="31294" y="0"/>
                    <a:pt x="4258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72535" cy="1561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709105" y="609600"/>
            <a:ext cx="8940017" cy="667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3"/>
              </a:lnSpc>
            </a:pPr>
            <a:r>
              <a:rPr lang="en-US" sz="28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Three Major Failure Cases:</a:t>
            </a:r>
          </a:p>
          <a:p>
            <a:pPr algn="just">
              <a:lnSpc>
                <a:spcPts val="3143"/>
              </a:lnSpc>
            </a:pPr>
            <a:r>
              <a:rPr lang="en-US" sz="26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1. Nested Topic Ranges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Some</a:t>
            </a: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 entries were completely contained within neighboring entries.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Fix: Detect nested ranges and merge/redraw boundaries where no genuine topic change exists.</a:t>
            </a:r>
          </a:p>
          <a:p>
            <a:pPr algn="just">
              <a:lnSpc>
                <a:spcPts val="3143"/>
              </a:lnSpc>
            </a:pPr>
            <a:r>
              <a:rPr lang="en-US" sz="26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2. Incorrect Topic Labels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Some labels did not match the cited testimony.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Fix: generate labels strictly from the cited evidence + controlled topic vocabulary.</a:t>
            </a:r>
          </a:p>
          <a:p>
            <a:pPr algn="just">
              <a:lnSpc>
                <a:spcPts val="3143"/>
              </a:lnSpc>
            </a:pPr>
            <a:r>
              <a:rPr lang="en-US" sz="26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3. Overlapping Ranges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Some neighboring entries claimed overlapping testimony.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Fix: Add overlap detection + merge/de-duplication + clean boundary enforcement.</a:t>
            </a:r>
          </a:p>
          <a:p>
            <a:pPr algn="just">
              <a:lnSpc>
                <a:spcPts val="3143"/>
              </a:lnSpc>
            </a:pPr>
          </a:p>
          <a:p>
            <a:pPr algn="just">
              <a:lnSpc>
                <a:spcPts val="3143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423336" y="2421714"/>
            <a:ext cx="7853970" cy="4382345"/>
            <a:chOff x="0" y="0"/>
            <a:chExt cx="1877309" cy="10474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7308" cy="1047497"/>
            </a:xfrm>
            <a:custGeom>
              <a:avLst/>
              <a:gdLst/>
              <a:ahLst/>
              <a:cxnLst/>
              <a:rect r="r" b="b" t="t" l="l"/>
              <a:pathLst>
                <a:path h="1047497" w="1877308">
                  <a:moveTo>
                    <a:pt x="49287" y="0"/>
                  </a:moveTo>
                  <a:lnTo>
                    <a:pt x="1828022" y="0"/>
                  </a:lnTo>
                  <a:cubicBezTo>
                    <a:pt x="1841093" y="0"/>
                    <a:pt x="1853630" y="5193"/>
                    <a:pt x="1862873" y="14436"/>
                  </a:cubicBezTo>
                  <a:cubicBezTo>
                    <a:pt x="1872116" y="23679"/>
                    <a:pt x="1877308" y="36215"/>
                    <a:pt x="1877308" y="49287"/>
                  </a:cubicBezTo>
                  <a:lnTo>
                    <a:pt x="1877308" y="998211"/>
                  </a:lnTo>
                  <a:cubicBezTo>
                    <a:pt x="1877308" y="1011282"/>
                    <a:pt x="1872116" y="1023819"/>
                    <a:pt x="1862873" y="1033062"/>
                  </a:cubicBezTo>
                  <a:cubicBezTo>
                    <a:pt x="1853630" y="1042305"/>
                    <a:pt x="1841093" y="1047497"/>
                    <a:pt x="1828022" y="1047497"/>
                  </a:cubicBezTo>
                  <a:lnTo>
                    <a:pt x="49287" y="1047497"/>
                  </a:lnTo>
                  <a:cubicBezTo>
                    <a:pt x="36215" y="1047497"/>
                    <a:pt x="23679" y="1042305"/>
                    <a:pt x="14436" y="1033062"/>
                  </a:cubicBezTo>
                  <a:cubicBezTo>
                    <a:pt x="5193" y="1023819"/>
                    <a:pt x="0" y="1011282"/>
                    <a:pt x="0" y="998211"/>
                  </a:cubicBezTo>
                  <a:lnTo>
                    <a:pt x="0" y="49287"/>
                  </a:lnTo>
                  <a:cubicBezTo>
                    <a:pt x="0" y="36215"/>
                    <a:pt x="5193" y="23679"/>
                    <a:pt x="14436" y="14436"/>
                  </a:cubicBezTo>
                  <a:cubicBezTo>
                    <a:pt x="23679" y="5193"/>
                    <a:pt x="36215" y="0"/>
                    <a:pt x="492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877309" cy="1085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90226" y="2471946"/>
            <a:ext cx="7568365" cy="44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3"/>
              </a:lnSpc>
            </a:pPr>
            <a:r>
              <a:rPr lang="en-US" sz="30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Stability Test:</a:t>
            </a:r>
          </a:p>
          <a:p>
            <a:pPr algn="just">
              <a:lnSpc>
                <a:spcPts val="3143"/>
              </a:lnSpc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Observed topic counts:</a:t>
            </a:r>
          </a:p>
          <a:p>
            <a:pPr algn="just">
              <a:lnSpc>
                <a:spcPts val="3143"/>
              </a:lnSpc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Run 1 → 20 raw entries</a:t>
            </a:r>
          </a:p>
          <a:p>
            <a:pPr algn="just">
              <a:lnSpc>
                <a:spcPts val="3143"/>
              </a:lnSpc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Run 2 → 15 topics</a:t>
            </a:r>
          </a:p>
          <a:p>
            <a:pPr algn="just">
              <a:lnSpc>
                <a:spcPts val="3623"/>
              </a:lnSpc>
            </a:pPr>
            <a:r>
              <a:rPr lang="en-US" sz="30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Run 3 → 9 topics</a:t>
            </a:r>
          </a:p>
          <a:p>
            <a:pPr algn="just">
              <a:lnSpc>
                <a:spcPts val="3623"/>
              </a:lnSpc>
            </a:pPr>
            <a:r>
              <a:rPr lang="en-US" sz="30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Verdict: UNSTABLE</a:t>
            </a:r>
          </a:p>
          <a:p>
            <a:pPr algn="just">
              <a:lnSpc>
                <a:spcPts val="3143"/>
              </a:lnSpc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6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mportant limitation:</a:t>
            </a:r>
          </a:p>
          <a:p>
            <a:pPr algn="just">
              <a:lnSpc>
                <a:spcPts val="3143"/>
              </a:lnSpc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Run 2 and Run 3 were manual proxy re-segmentations, not genuine automated re-runs of the pipeline.</a:t>
            </a:r>
          </a:p>
          <a:p>
            <a:pPr algn="just">
              <a:lnSpc>
                <a:spcPts val="3143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8597065" y="7252788"/>
            <a:ext cx="9190790" cy="2916066"/>
            <a:chOff x="0" y="0"/>
            <a:chExt cx="2196844" cy="6970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844" cy="697018"/>
            </a:xfrm>
            <a:custGeom>
              <a:avLst/>
              <a:gdLst/>
              <a:ahLst/>
              <a:cxnLst/>
              <a:rect r="r" b="b" t="t" l="l"/>
              <a:pathLst>
                <a:path h="697018" w="2196844">
                  <a:moveTo>
                    <a:pt x="42118" y="0"/>
                  </a:moveTo>
                  <a:lnTo>
                    <a:pt x="2154726" y="0"/>
                  </a:lnTo>
                  <a:cubicBezTo>
                    <a:pt x="2165897" y="0"/>
                    <a:pt x="2176610" y="4437"/>
                    <a:pt x="2184508" y="12336"/>
                  </a:cubicBezTo>
                  <a:cubicBezTo>
                    <a:pt x="2192407" y="20235"/>
                    <a:pt x="2196844" y="30947"/>
                    <a:pt x="2196844" y="42118"/>
                  </a:cubicBezTo>
                  <a:lnTo>
                    <a:pt x="2196844" y="654900"/>
                  </a:lnTo>
                  <a:cubicBezTo>
                    <a:pt x="2196844" y="678161"/>
                    <a:pt x="2177987" y="697018"/>
                    <a:pt x="2154726" y="697018"/>
                  </a:cubicBezTo>
                  <a:lnTo>
                    <a:pt x="42118" y="697018"/>
                  </a:lnTo>
                  <a:cubicBezTo>
                    <a:pt x="30947" y="697018"/>
                    <a:pt x="20235" y="692580"/>
                    <a:pt x="12336" y="684682"/>
                  </a:cubicBezTo>
                  <a:cubicBezTo>
                    <a:pt x="4437" y="676783"/>
                    <a:pt x="0" y="666070"/>
                    <a:pt x="0" y="654900"/>
                  </a:cubicBezTo>
                  <a:lnTo>
                    <a:pt x="0" y="42118"/>
                  </a:lnTo>
                  <a:cubicBezTo>
                    <a:pt x="0" y="18857"/>
                    <a:pt x="18857" y="0"/>
                    <a:pt x="4211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96844" cy="735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45507" y="7424946"/>
            <a:ext cx="6560236" cy="2571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3"/>
              </a:lnSpc>
            </a:pPr>
            <a:r>
              <a:rPr lang="en-US" sz="31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Fin</a:t>
            </a:r>
            <a:r>
              <a:rPr lang="en-US" sz="31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al Verdict:</a:t>
            </a:r>
          </a:p>
          <a:p>
            <a:pPr algn="just">
              <a:lnSpc>
                <a:spcPts val="3383"/>
              </a:lnSpc>
            </a:pPr>
            <a:r>
              <a:rPr lang="en-US" sz="28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P</a:t>
            </a:r>
            <a:r>
              <a:rPr lang="en-US" sz="28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romising prototype — strong location accuracy, but segmentation and topic-label grounding need improvement before unsupervised professional use.</a:t>
            </a:r>
          </a:p>
          <a:p>
            <a:pPr algn="just">
              <a:lnSpc>
                <a:spcPts val="3143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23336" y="7024896"/>
            <a:ext cx="7853970" cy="3133725"/>
            <a:chOff x="0" y="0"/>
            <a:chExt cx="1877309" cy="749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77308" cy="749044"/>
            </a:xfrm>
            <a:custGeom>
              <a:avLst/>
              <a:gdLst/>
              <a:ahLst/>
              <a:cxnLst/>
              <a:rect r="r" b="b" t="t" l="l"/>
              <a:pathLst>
                <a:path h="749044" w="1877308">
                  <a:moveTo>
                    <a:pt x="49287" y="0"/>
                  </a:moveTo>
                  <a:lnTo>
                    <a:pt x="1828022" y="0"/>
                  </a:lnTo>
                  <a:cubicBezTo>
                    <a:pt x="1841093" y="0"/>
                    <a:pt x="1853630" y="5193"/>
                    <a:pt x="1862873" y="14436"/>
                  </a:cubicBezTo>
                  <a:cubicBezTo>
                    <a:pt x="1872116" y="23679"/>
                    <a:pt x="1877308" y="36215"/>
                    <a:pt x="1877308" y="49287"/>
                  </a:cubicBezTo>
                  <a:lnTo>
                    <a:pt x="1877308" y="699757"/>
                  </a:lnTo>
                  <a:cubicBezTo>
                    <a:pt x="1877308" y="712829"/>
                    <a:pt x="1872116" y="725365"/>
                    <a:pt x="1862873" y="734608"/>
                  </a:cubicBezTo>
                  <a:cubicBezTo>
                    <a:pt x="1853630" y="743851"/>
                    <a:pt x="1841093" y="749044"/>
                    <a:pt x="1828022" y="749044"/>
                  </a:cubicBezTo>
                  <a:lnTo>
                    <a:pt x="49287" y="749044"/>
                  </a:lnTo>
                  <a:cubicBezTo>
                    <a:pt x="36215" y="749044"/>
                    <a:pt x="23679" y="743851"/>
                    <a:pt x="14436" y="734608"/>
                  </a:cubicBezTo>
                  <a:cubicBezTo>
                    <a:pt x="5193" y="725365"/>
                    <a:pt x="0" y="712829"/>
                    <a:pt x="0" y="699757"/>
                  </a:cubicBezTo>
                  <a:lnTo>
                    <a:pt x="0" y="49287"/>
                  </a:lnTo>
                  <a:cubicBezTo>
                    <a:pt x="0" y="36215"/>
                    <a:pt x="5193" y="23679"/>
                    <a:pt x="14436" y="14436"/>
                  </a:cubicBezTo>
                  <a:cubicBezTo>
                    <a:pt x="23679" y="5193"/>
                    <a:pt x="36215" y="0"/>
                    <a:pt x="492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877309" cy="7871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52831" y="7024896"/>
            <a:ext cx="7394981" cy="319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23"/>
              </a:lnSpc>
            </a:pPr>
            <a:r>
              <a:rPr lang="en-US" sz="3019" b="true">
                <a:solidFill>
                  <a:srgbClr val="422A53"/>
                </a:solidFill>
                <a:latin typeface="Inter Bold"/>
                <a:ea typeface="Inter Bold"/>
                <a:cs typeface="Inter Bold"/>
                <a:sym typeface="Inter Bold"/>
              </a:rPr>
              <a:t>Next Steps: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Run the actual pipeline 3+ times with deterministic settings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dd automated provenance verification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Ad</a:t>
            </a: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d merge/de-duplication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Establish fixed segmentation granularity</a:t>
            </a:r>
          </a:p>
          <a:p>
            <a:pPr algn="just" marL="565657" indent="-282829" lvl="1">
              <a:lnSpc>
                <a:spcPts val="3143"/>
              </a:lnSpc>
              <a:buFont typeface="Arial"/>
              <a:buChar char="•"/>
            </a:pPr>
            <a:r>
              <a:rPr lang="en-US" sz="2619">
                <a:solidFill>
                  <a:srgbClr val="422A53"/>
                </a:solidFill>
                <a:latin typeface="Inter"/>
                <a:ea typeface="Inter"/>
                <a:cs typeface="Inter"/>
                <a:sym typeface="Inter"/>
              </a:rPr>
              <a:t>Improve evidence-grounded topic labeling</a:t>
            </a:r>
          </a:p>
          <a:p>
            <a:pPr algn="just">
              <a:lnSpc>
                <a:spcPts val="3143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DAHVDuK8oII</dc:identifier>
  <dcterms:modified xsi:type="dcterms:W3CDTF">2011-08-01T06:04:30Z</dcterms:modified>
  <cp:revision>1</cp:revision>
  <dc:title>DepoIndex-AI-Powered-Deposition-Topic-Index (1).pptx</dc:title>
</cp:coreProperties>
</file>